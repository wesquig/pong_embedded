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1"/>
  </p:notesMasterIdLst>
  <p:sldIdLst>
    <p:sldId id="256" r:id="rId2"/>
    <p:sldId id="257" r:id="rId3"/>
    <p:sldId id="258" r:id="rId4"/>
    <p:sldId id="259" r:id="rId5"/>
    <p:sldId id="260" r:id="rId6"/>
    <p:sldId id="264" r:id="rId7"/>
    <p:sldId id="261" r:id="rId8"/>
    <p:sldId id="262" r:id="rId9"/>
    <p:sldId id="263" r:id="rId10"/>
  </p:sldIdLst>
  <p:sldSz cx="9144000" cy="5143500" type="screen16x9"/>
  <p:notesSz cx="6858000" cy="9144000"/>
  <p:embeddedFontLst>
    <p:embeddedFont>
      <p:font typeface="Old Standard TT" panose="020B0604020202020204" charset="0"/>
      <p:regular r:id="rId12"/>
      <p:bold r:id="rId13"/>
      <p: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64" d="100"/>
          <a:sy n="64" d="100"/>
        </p:scale>
        <p:origin x="2002" y="9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51f8963aa7_0_3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351f8963aa7_0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351f8963aa7_0_3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351f8963aa7_0_3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351f8963aa7_0_3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351f8963aa7_0_3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351f8963aa7_0_3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351f8963aa7_0_3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1f8963aa7_0_3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351f8963aa7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351f8963aa7_0_3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351f8963aa7_0_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351f8963aa7_0_36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351f8963aa7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rm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0"/>
              </a:spcBef>
              <a:spcAft>
                <a:spcPts val="0"/>
              </a:spcAft>
              <a:buClr>
                <a:schemeClr val="accent1"/>
              </a:buClr>
              <a:buSzPts val="1400"/>
              <a:buChar char="○"/>
              <a:defRPr>
                <a:solidFill>
                  <a:schemeClr val="accent1"/>
                </a:solidFill>
              </a:defRPr>
            </a:lvl2pPr>
            <a:lvl3pPr marL="1371600" lvl="2" indent="-317500">
              <a:spcBef>
                <a:spcPts val="0"/>
              </a:spcBef>
              <a:spcAft>
                <a:spcPts val="0"/>
              </a:spcAft>
              <a:buClr>
                <a:schemeClr val="accent1"/>
              </a:buClr>
              <a:buSzPts val="1400"/>
              <a:buChar char="■"/>
              <a:defRPr>
                <a:solidFill>
                  <a:schemeClr val="accent1"/>
                </a:solidFill>
              </a:defRPr>
            </a:lvl3pPr>
            <a:lvl4pPr marL="1828800" lvl="3" indent="-317500">
              <a:spcBef>
                <a:spcPts val="0"/>
              </a:spcBef>
              <a:spcAft>
                <a:spcPts val="0"/>
              </a:spcAft>
              <a:buClr>
                <a:schemeClr val="accent1"/>
              </a:buClr>
              <a:buSzPts val="1400"/>
              <a:buChar char="●"/>
              <a:defRPr>
                <a:solidFill>
                  <a:schemeClr val="accent1"/>
                </a:solidFill>
              </a:defRPr>
            </a:lvl4pPr>
            <a:lvl5pPr marL="2286000" lvl="4" indent="-317500">
              <a:spcBef>
                <a:spcPts val="0"/>
              </a:spcBef>
              <a:spcAft>
                <a:spcPts val="0"/>
              </a:spcAft>
              <a:buClr>
                <a:schemeClr val="accent1"/>
              </a:buClr>
              <a:buSzPts val="1400"/>
              <a:buChar char="○"/>
              <a:defRPr>
                <a:solidFill>
                  <a:schemeClr val="accent1"/>
                </a:solidFill>
              </a:defRPr>
            </a:lvl5pPr>
            <a:lvl6pPr marL="2743200" lvl="5" indent="-317500">
              <a:spcBef>
                <a:spcPts val="0"/>
              </a:spcBef>
              <a:spcAft>
                <a:spcPts val="0"/>
              </a:spcAft>
              <a:buClr>
                <a:schemeClr val="accent1"/>
              </a:buClr>
              <a:buSzPts val="1400"/>
              <a:buChar char="■"/>
              <a:defRPr>
                <a:solidFill>
                  <a:schemeClr val="accent1"/>
                </a:solidFill>
              </a:defRPr>
            </a:lvl6pPr>
            <a:lvl7pPr marL="3200400" lvl="6" indent="-317500">
              <a:spcBef>
                <a:spcPts val="0"/>
              </a:spcBef>
              <a:spcAft>
                <a:spcPts val="0"/>
              </a:spcAft>
              <a:buClr>
                <a:schemeClr val="accent1"/>
              </a:buClr>
              <a:buSzPts val="1400"/>
              <a:buChar char="●"/>
              <a:defRPr>
                <a:solidFill>
                  <a:schemeClr val="accent1"/>
                </a:solidFill>
              </a:defRPr>
            </a:lvl7pPr>
            <a:lvl8pPr marL="3657600" lvl="7" indent="-317500">
              <a:spcBef>
                <a:spcPts val="0"/>
              </a:spcBef>
              <a:spcAft>
                <a:spcPts val="0"/>
              </a:spcAft>
              <a:buClr>
                <a:schemeClr val="accent1"/>
              </a:buClr>
              <a:buSzPts val="1400"/>
              <a:buChar char="○"/>
              <a:defRPr>
                <a:solidFill>
                  <a:schemeClr val="accent1"/>
                </a:solidFill>
              </a:defRPr>
            </a:lvl8pPr>
            <a:lvl9pPr marL="4114800" lvl="8" indent="-317500">
              <a:spcBef>
                <a:spcPts val="0"/>
              </a:spcBef>
              <a:spcAft>
                <a:spcPts val="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rmAutofit/>
          </a:bodyPr>
          <a:lstStyle/>
          <a:p>
            <a:pPr marL="0" lvl="0" indent="0" algn="l" rtl="0">
              <a:spcBef>
                <a:spcPts val="0"/>
              </a:spcBef>
              <a:spcAft>
                <a:spcPts val="0"/>
              </a:spcAft>
              <a:buNone/>
            </a:pPr>
            <a:r>
              <a:rPr lang="en"/>
              <a:t>Pong</a:t>
            </a:r>
            <a:endParaRPr/>
          </a:p>
        </p:txBody>
      </p:sp>
      <p:sp>
        <p:nvSpPr>
          <p:cNvPr id="60" name="Google Shape;60;p13"/>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Eric Whites &amp; Wesley Quigley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Project Overview</a:t>
            </a:r>
            <a:endParaRPr/>
          </a:p>
        </p:txBody>
      </p:sp>
      <p:sp>
        <p:nvSpPr>
          <p:cNvPr id="66" name="Google Shape;66;p14"/>
          <p:cNvSpPr txBox="1">
            <a:spLocks noGrp="1"/>
          </p:cNvSpPr>
          <p:nvPr>
            <p:ph type="body" idx="1"/>
          </p:nvPr>
        </p:nvSpPr>
        <p:spPr>
          <a:xfrm>
            <a:off x="311700" y="1171600"/>
            <a:ext cx="5406600" cy="3397200"/>
          </a:xfrm>
          <a:prstGeom prst="rect">
            <a:avLst/>
          </a:prstGeom>
        </p:spPr>
        <p:txBody>
          <a:bodyPr spcFirstLastPara="1" wrap="square" lIns="91425" tIns="91425" rIns="91425" bIns="91425" anchor="t" anchorCtr="0">
            <a:normAutofit fontScale="92500" lnSpcReduction="20000"/>
          </a:bodyPr>
          <a:lstStyle/>
          <a:p>
            <a:pPr marL="0" lvl="0" indent="0" algn="l" rtl="0">
              <a:spcBef>
                <a:spcPts val="0"/>
              </a:spcBef>
              <a:spcAft>
                <a:spcPts val="0"/>
              </a:spcAft>
              <a:buNone/>
            </a:pPr>
            <a:r>
              <a:rPr lang="en"/>
              <a:t>Objective: Develop a game device to play Pong.</a:t>
            </a:r>
            <a:endParaRPr/>
          </a:p>
          <a:p>
            <a:pPr marL="0" lvl="0" indent="0" algn="l" rtl="0">
              <a:spcBef>
                <a:spcPts val="1200"/>
              </a:spcBef>
              <a:spcAft>
                <a:spcPts val="0"/>
              </a:spcAft>
              <a:buNone/>
            </a:pPr>
            <a:r>
              <a:rPr lang="en"/>
              <a:t>Gameplay:</a:t>
            </a:r>
            <a:endParaRPr/>
          </a:p>
          <a:p>
            <a:pPr marL="457200" lvl="0" indent="-334327" algn="l" rtl="0">
              <a:spcBef>
                <a:spcPts val="1200"/>
              </a:spcBef>
              <a:spcAft>
                <a:spcPts val="0"/>
              </a:spcAft>
              <a:buSzPct val="100000"/>
              <a:buChar char="●"/>
            </a:pPr>
            <a:r>
              <a:rPr lang="en"/>
              <a:t>Two players, each controlling a paddle</a:t>
            </a:r>
            <a:endParaRPr/>
          </a:p>
          <a:p>
            <a:pPr marL="457200" lvl="0" indent="-334327" algn="l" rtl="0">
              <a:spcBef>
                <a:spcPts val="0"/>
              </a:spcBef>
              <a:spcAft>
                <a:spcPts val="0"/>
              </a:spcAft>
              <a:buSzPct val="100000"/>
              <a:buChar char="●"/>
            </a:pPr>
            <a:r>
              <a:rPr lang="en"/>
              <a:t>Paddle movement controlled by the y-axis of potentiometer</a:t>
            </a:r>
            <a:endParaRPr/>
          </a:p>
          <a:p>
            <a:pPr marL="457200" lvl="0" indent="-334327" algn="l" rtl="0">
              <a:spcBef>
                <a:spcPts val="0"/>
              </a:spcBef>
              <a:spcAft>
                <a:spcPts val="0"/>
              </a:spcAft>
              <a:buSzPct val="100000"/>
              <a:buChar char="●"/>
            </a:pPr>
            <a:r>
              <a:rPr lang="en"/>
              <a:t>Game Displayed on three 8x32 LED Matrices</a:t>
            </a:r>
            <a:endParaRPr/>
          </a:p>
          <a:p>
            <a:pPr marL="457200" lvl="0" indent="-334327" algn="l" rtl="0">
              <a:spcBef>
                <a:spcPts val="0"/>
              </a:spcBef>
              <a:spcAft>
                <a:spcPts val="0"/>
              </a:spcAft>
              <a:buSzPct val="100000"/>
              <a:buChar char="●"/>
            </a:pPr>
            <a:r>
              <a:rPr lang="en"/>
              <a:t>Audio feedback</a:t>
            </a:r>
            <a:endParaRPr/>
          </a:p>
          <a:p>
            <a:pPr marL="0" lvl="0" indent="0" algn="l" rtl="0">
              <a:spcBef>
                <a:spcPts val="1200"/>
              </a:spcBef>
              <a:spcAft>
                <a:spcPts val="0"/>
              </a:spcAft>
              <a:buNone/>
            </a:pPr>
            <a:r>
              <a:rPr lang="en"/>
              <a:t>Authentication:</a:t>
            </a:r>
            <a:endParaRPr/>
          </a:p>
          <a:p>
            <a:pPr marL="457200" lvl="0" indent="-334327" algn="l" rtl="0">
              <a:spcBef>
                <a:spcPts val="1200"/>
              </a:spcBef>
              <a:spcAft>
                <a:spcPts val="0"/>
              </a:spcAft>
              <a:buSzPct val="100000"/>
              <a:buChar char="●"/>
            </a:pPr>
            <a:r>
              <a:rPr lang="en"/>
              <a:t>Users must authenticate with RFID tag to start the game.</a:t>
            </a:r>
            <a:endParaRPr/>
          </a:p>
        </p:txBody>
      </p:sp>
      <p:pic>
        <p:nvPicPr>
          <p:cNvPr id="67" name="Google Shape;67;p14"/>
          <p:cNvPicPr preferRelativeResize="0"/>
          <p:nvPr/>
        </p:nvPicPr>
        <p:blipFill>
          <a:blip r:embed="rId3">
            <a:alphaModFix/>
          </a:blip>
          <a:stretch>
            <a:fillRect/>
          </a:stretch>
        </p:blipFill>
        <p:spPr>
          <a:xfrm>
            <a:off x="5718196" y="1171600"/>
            <a:ext cx="3114099" cy="339719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Design &amp; Peripherals Utilization</a:t>
            </a:r>
            <a:endParaRPr/>
          </a:p>
        </p:txBody>
      </p:sp>
      <p:sp>
        <p:nvSpPr>
          <p:cNvPr id="73" name="Google Shape;73;p15"/>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457200" lvl="0" indent="-342900" algn="l" rtl="0">
              <a:spcBef>
                <a:spcPts val="0"/>
              </a:spcBef>
              <a:spcAft>
                <a:spcPts val="0"/>
              </a:spcAft>
              <a:buSzPts val="1800"/>
              <a:buAutoNum type="arabicPeriod"/>
            </a:pPr>
            <a:r>
              <a:rPr lang="en"/>
              <a:t>Microcontroller</a:t>
            </a:r>
            <a:endParaRPr/>
          </a:p>
          <a:p>
            <a:pPr marL="914400" lvl="1" indent="-317500" algn="l" rtl="0">
              <a:spcBef>
                <a:spcPts val="0"/>
              </a:spcBef>
              <a:spcAft>
                <a:spcPts val="0"/>
              </a:spcAft>
              <a:buSzPts val="1400"/>
              <a:buAutoNum type="alphaLcPeriod"/>
            </a:pPr>
            <a:r>
              <a:rPr lang="en"/>
              <a:t>Role: Central controller for the game logic, joystick input, LED matrix display, and RFID authentication.</a:t>
            </a:r>
            <a:endParaRPr/>
          </a:p>
          <a:p>
            <a:pPr marL="457200" lvl="0" indent="-342900" algn="l" rtl="0">
              <a:spcBef>
                <a:spcPts val="0"/>
              </a:spcBef>
              <a:spcAft>
                <a:spcPts val="0"/>
              </a:spcAft>
              <a:buSzPts val="1800"/>
              <a:buAutoNum type="arabicPeriod"/>
            </a:pPr>
            <a:r>
              <a:rPr lang="en"/>
              <a:t>Joysticks</a:t>
            </a:r>
            <a:endParaRPr/>
          </a:p>
          <a:p>
            <a:pPr marL="914400" lvl="1" indent="-317500" algn="l" rtl="0">
              <a:spcBef>
                <a:spcPts val="0"/>
              </a:spcBef>
              <a:spcAft>
                <a:spcPts val="0"/>
              </a:spcAft>
              <a:buSzPts val="1400"/>
              <a:buAutoNum type="alphaLcPeriod"/>
            </a:pPr>
            <a:r>
              <a:rPr lang="en"/>
              <a:t>Role: Input devices for player paddle control, providing analog signals for the movement of </a:t>
            </a:r>
            <a:endParaRPr/>
          </a:p>
          <a:p>
            <a:pPr marL="914400" lvl="1" indent="-317500" algn="l" rtl="0">
              <a:spcBef>
                <a:spcPts val="0"/>
              </a:spcBef>
              <a:spcAft>
                <a:spcPts val="0"/>
              </a:spcAft>
              <a:buSzPts val="1400"/>
              <a:buAutoNum type="alphaLcPeriod"/>
            </a:pPr>
            <a:r>
              <a:rPr lang="en"/>
              <a:t>paddles.</a:t>
            </a:r>
            <a:endParaRPr/>
          </a:p>
          <a:p>
            <a:pPr marL="457200" lvl="0" indent="-342900" algn="l" rtl="0">
              <a:spcBef>
                <a:spcPts val="0"/>
              </a:spcBef>
              <a:spcAft>
                <a:spcPts val="0"/>
              </a:spcAft>
              <a:buSzPts val="1800"/>
              <a:buAutoNum type="arabicPeriod"/>
            </a:pPr>
            <a:r>
              <a:rPr lang="en"/>
              <a:t>LED Matrix Display</a:t>
            </a:r>
            <a:endParaRPr/>
          </a:p>
          <a:p>
            <a:pPr marL="914400" lvl="1" indent="-317500" algn="l" rtl="0">
              <a:spcBef>
                <a:spcPts val="0"/>
              </a:spcBef>
              <a:spcAft>
                <a:spcPts val="0"/>
              </a:spcAft>
              <a:buSzPts val="1400"/>
              <a:buAutoNum type="alphaLcPeriod"/>
            </a:pPr>
            <a:r>
              <a:rPr lang="en"/>
              <a:t>Role: Displays the game area and the player data.</a:t>
            </a:r>
            <a:endParaRPr/>
          </a:p>
          <a:p>
            <a:pPr marL="457200" lvl="0" indent="-342900" algn="l" rtl="0">
              <a:spcBef>
                <a:spcPts val="0"/>
              </a:spcBef>
              <a:spcAft>
                <a:spcPts val="0"/>
              </a:spcAft>
              <a:buSzPts val="1800"/>
              <a:buAutoNum type="arabicPeriod"/>
            </a:pPr>
            <a:r>
              <a:rPr lang="en"/>
              <a:t>RFID Reader</a:t>
            </a:r>
            <a:endParaRPr/>
          </a:p>
          <a:p>
            <a:pPr marL="914400" lvl="1" indent="-317500" algn="l" rtl="0">
              <a:spcBef>
                <a:spcPts val="0"/>
              </a:spcBef>
              <a:spcAft>
                <a:spcPts val="0"/>
              </a:spcAft>
              <a:buSzPts val="1400"/>
              <a:buAutoNum type="alphaLcPeriod"/>
            </a:pPr>
            <a:r>
              <a:rPr lang="en"/>
              <a:t>Role: Authenticate the users</a:t>
            </a:r>
            <a:endParaRPr/>
          </a:p>
          <a:p>
            <a:pPr marL="457200" lvl="0" indent="-342900" algn="l" rtl="0">
              <a:spcBef>
                <a:spcPts val="0"/>
              </a:spcBef>
              <a:spcAft>
                <a:spcPts val="0"/>
              </a:spcAft>
              <a:buSzPts val="1800"/>
              <a:buAutoNum type="arabicPeriod"/>
            </a:pPr>
            <a:r>
              <a:rPr lang="en"/>
              <a:t>Buzzer</a:t>
            </a:r>
            <a:endParaRPr/>
          </a:p>
          <a:p>
            <a:pPr marL="914400" lvl="1" indent="-317500" algn="l" rtl="0">
              <a:spcBef>
                <a:spcPts val="0"/>
              </a:spcBef>
              <a:spcAft>
                <a:spcPts val="0"/>
              </a:spcAft>
              <a:buSzPts val="1400"/>
              <a:buAutoNum type="alphaLcPeriod"/>
            </a:pPr>
            <a:r>
              <a:rPr lang="en"/>
              <a:t>Role: Player score indicator</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System Flow</a:t>
            </a:r>
            <a:endParaRPr/>
          </a:p>
        </p:txBody>
      </p:sp>
      <p:sp>
        <p:nvSpPr>
          <p:cNvPr id="79" name="Google Shape;79;p16"/>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AutoNum type="arabicPeriod"/>
            </a:pPr>
            <a:r>
              <a:rPr lang="en" dirty="0"/>
              <a:t>User Authentication</a:t>
            </a:r>
            <a:endParaRPr dirty="0"/>
          </a:p>
          <a:p>
            <a:pPr marL="457200" lvl="0" indent="-342900" algn="l" rtl="0">
              <a:spcBef>
                <a:spcPts val="0"/>
              </a:spcBef>
              <a:spcAft>
                <a:spcPts val="0"/>
              </a:spcAft>
              <a:buSzPts val="1800"/>
              <a:buAutoNum type="arabicPeriod"/>
            </a:pPr>
            <a:r>
              <a:rPr lang="en" dirty="0"/>
              <a:t>Joystick Input</a:t>
            </a:r>
            <a:endParaRPr dirty="0"/>
          </a:p>
          <a:p>
            <a:pPr marL="457200" lvl="0" indent="-342900" algn="l" rtl="0">
              <a:spcBef>
                <a:spcPts val="0"/>
              </a:spcBef>
              <a:spcAft>
                <a:spcPts val="0"/>
              </a:spcAft>
              <a:buSzPts val="1800"/>
              <a:buAutoNum type="arabicPeriod"/>
            </a:pPr>
            <a:r>
              <a:rPr lang="en" dirty="0"/>
              <a:t>Game Logic</a:t>
            </a:r>
            <a:endParaRPr dirty="0"/>
          </a:p>
          <a:p>
            <a:pPr marL="457200" lvl="0" indent="-342900" algn="l" rtl="0">
              <a:spcBef>
                <a:spcPts val="0"/>
              </a:spcBef>
              <a:spcAft>
                <a:spcPts val="0"/>
              </a:spcAft>
              <a:buSzPts val="1800"/>
              <a:buAutoNum type="arabicPeriod"/>
            </a:pPr>
            <a:r>
              <a:rPr lang="en" dirty="0"/>
              <a:t>Display Output</a:t>
            </a:r>
            <a:endParaRPr dirty="0"/>
          </a:p>
          <a:p>
            <a:pPr marL="457200" lvl="0" indent="-342900" algn="l" rtl="0">
              <a:spcBef>
                <a:spcPts val="0"/>
              </a:spcBef>
              <a:spcAft>
                <a:spcPts val="0"/>
              </a:spcAft>
              <a:buSzPts val="1800"/>
              <a:buAutoNum type="arabicPeriod"/>
            </a:pPr>
            <a:r>
              <a:rPr lang="en"/>
              <a:t>Audio Feedback</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Actuator &amp; Sensor Integration</a:t>
            </a:r>
            <a:endParaRPr/>
          </a:p>
        </p:txBody>
      </p:sp>
      <p:sp>
        <p:nvSpPr>
          <p:cNvPr id="85" name="Google Shape;85;p17"/>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
              <a:t>Actuator</a:t>
            </a:r>
            <a:endParaRPr/>
          </a:p>
          <a:p>
            <a:pPr marL="457200" lvl="0" indent="-342900" algn="l" rtl="0">
              <a:spcBef>
                <a:spcPts val="0"/>
              </a:spcBef>
              <a:spcAft>
                <a:spcPts val="0"/>
              </a:spcAft>
              <a:buSzPts val="1800"/>
              <a:buAutoNum type="arabicPeriod"/>
            </a:pPr>
            <a:r>
              <a:rPr lang="en"/>
              <a:t>Upon a player scoring a point, the buzzer will be notified to turn on.</a:t>
            </a:r>
            <a:endParaRPr/>
          </a:p>
          <a:p>
            <a:pPr marL="914400" lvl="1" indent="-317500" algn="l" rtl="0">
              <a:spcBef>
                <a:spcPts val="0"/>
              </a:spcBef>
              <a:spcAft>
                <a:spcPts val="0"/>
              </a:spcAft>
              <a:buSzPts val="1400"/>
              <a:buAutoNum type="alphaLcPeriod"/>
            </a:pPr>
            <a:r>
              <a:rPr lang="en"/>
              <a:t>Could have used PWM to adjust the tone.</a:t>
            </a:r>
            <a:endParaRPr/>
          </a:p>
          <a:p>
            <a:pPr marL="914400" lvl="1" indent="-317500" algn="l" rtl="0">
              <a:spcBef>
                <a:spcPts val="0"/>
              </a:spcBef>
              <a:spcAft>
                <a:spcPts val="0"/>
              </a:spcAft>
              <a:buSzPts val="1400"/>
              <a:buAutoNum type="alphaLcPeriod"/>
            </a:pPr>
            <a:r>
              <a:rPr lang="en"/>
              <a:t>Similar to the concept of turning the LED on and off from the beginning of the course</a:t>
            </a:r>
            <a:endParaRPr/>
          </a:p>
          <a:p>
            <a:pPr marL="457200" lvl="0" indent="-342900" algn="l" rtl="0">
              <a:spcBef>
                <a:spcPts val="0"/>
              </a:spcBef>
              <a:spcAft>
                <a:spcPts val="0"/>
              </a:spcAft>
              <a:buSzPts val="1800"/>
              <a:buAutoNum type="arabicPeriod"/>
            </a:pPr>
            <a:r>
              <a:rPr lang="en"/>
              <a:t>8x32 LED Matrices will be a visual implementation of driving LEDs high from an input received from the joysticks.</a:t>
            </a:r>
            <a:endParaRPr/>
          </a:p>
          <a:p>
            <a:pPr marL="0" lvl="0" indent="0" algn="l" rtl="0">
              <a:spcBef>
                <a:spcPts val="0"/>
              </a:spcBef>
              <a:spcAft>
                <a:spcPts val="0"/>
              </a:spcAft>
              <a:buNone/>
            </a:pPr>
            <a:r>
              <a:rPr lang="en"/>
              <a:t>Sensor</a:t>
            </a:r>
            <a:endParaRPr/>
          </a:p>
          <a:p>
            <a:pPr marL="457200" lvl="0" indent="-342900" algn="l" rtl="0">
              <a:spcBef>
                <a:spcPts val="0"/>
              </a:spcBef>
              <a:spcAft>
                <a:spcPts val="0"/>
              </a:spcAft>
              <a:buSzPts val="1800"/>
              <a:buAutoNum type="arabicPeriod"/>
            </a:pPr>
            <a:r>
              <a:rPr lang="en"/>
              <a:t>Joystick will help control digital paddles that will be represented on the LED display.</a:t>
            </a:r>
            <a:endParaRPr/>
          </a:p>
          <a:p>
            <a:pPr marL="457200" lvl="0" indent="-342900" algn="l" rtl="0">
              <a:spcBef>
                <a:spcPts val="0"/>
              </a:spcBef>
              <a:spcAft>
                <a:spcPts val="0"/>
              </a:spcAft>
              <a:buSzPts val="1800"/>
              <a:buAutoNum type="arabicPeriod"/>
            </a:pPr>
            <a:r>
              <a:rPr lang="en"/>
              <a:t>RFID Reader detects and reads the tag and sends a signal to the other board to authenticate the start of the game.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928A2-8BAC-61DF-405C-8154ED6D63D1}"/>
              </a:ext>
            </a:extLst>
          </p:cNvPr>
          <p:cNvSpPr>
            <a:spLocks noGrp="1"/>
          </p:cNvSpPr>
          <p:nvPr>
            <p:ph type="title"/>
          </p:nvPr>
        </p:nvSpPr>
        <p:spPr/>
        <p:txBody>
          <a:bodyPr>
            <a:normAutofit fontScale="90000"/>
          </a:bodyPr>
          <a:lstStyle/>
          <a:p>
            <a:r>
              <a:rPr lang="en-US" dirty="0"/>
              <a:t>Wiring Diagram</a:t>
            </a:r>
          </a:p>
        </p:txBody>
      </p:sp>
      <p:pic>
        <p:nvPicPr>
          <p:cNvPr id="5" name="Picture 4">
            <a:extLst>
              <a:ext uri="{FF2B5EF4-FFF2-40B4-BE49-F238E27FC236}">
                <a16:creationId xmlns:a16="http://schemas.microsoft.com/office/drawing/2014/main" id="{640CB76D-58A6-03FC-3798-45DFAD063B36}"/>
              </a:ext>
            </a:extLst>
          </p:cNvPr>
          <p:cNvPicPr>
            <a:picLocks noChangeAspect="1"/>
          </p:cNvPicPr>
          <p:nvPr/>
        </p:nvPicPr>
        <p:blipFill>
          <a:blip r:embed="rId2"/>
          <a:stretch>
            <a:fillRect/>
          </a:stretch>
        </p:blipFill>
        <p:spPr>
          <a:xfrm>
            <a:off x="485371" y="1553786"/>
            <a:ext cx="3549796" cy="2479832"/>
          </a:xfrm>
          <a:prstGeom prst="rect">
            <a:avLst/>
          </a:prstGeom>
        </p:spPr>
      </p:pic>
      <p:pic>
        <p:nvPicPr>
          <p:cNvPr id="7" name="Picture 6">
            <a:extLst>
              <a:ext uri="{FF2B5EF4-FFF2-40B4-BE49-F238E27FC236}">
                <a16:creationId xmlns:a16="http://schemas.microsoft.com/office/drawing/2014/main" id="{A4DE8B1B-9012-1D28-447E-573945B1CE22}"/>
              </a:ext>
            </a:extLst>
          </p:cNvPr>
          <p:cNvPicPr>
            <a:picLocks noChangeAspect="1"/>
          </p:cNvPicPr>
          <p:nvPr/>
        </p:nvPicPr>
        <p:blipFill>
          <a:blip r:embed="rId3"/>
          <a:stretch>
            <a:fillRect/>
          </a:stretch>
        </p:blipFill>
        <p:spPr>
          <a:xfrm>
            <a:off x="4486171" y="1553786"/>
            <a:ext cx="4172458" cy="2479832"/>
          </a:xfrm>
          <a:prstGeom prst="rect">
            <a:avLst/>
          </a:prstGeom>
        </p:spPr>
      </p:pic>
    </p:spTree>
    <p:extLst>
      <p:ext uri="{BB962C8B-B14F-4D97-AF65-F5344CB8AC3E}">
        <p14:creationId xmlns:p14="http://schemas.microsoft.com/office/powerpoint/2010/main" val="3514742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Code Implementation &amp; Software Explanation</a:t>
            </a:r>
            <a:endParaRPr/>
          </a:p>
        </p:txBody>
      </p:sp>
      <p:sp>
        <p:nvSpPr>
          <p:cNvPr id="91" name="Google Shape;91;p18"/>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fontScale="85000" lnSpcReduction="20000"/>
          </a:bodyPr>
          <a:lstStyle/>
          <a:p>
            <a:pPr marL="457200" lvl="0" indent="-325755" algn="l" rtl="0">
              <a:spcBef>
                <a:spcPts val="0"/>
              </a:spcBef>
              <a:spcAft>
                <a:spcPts val="0"/>
              </a:spcAft>
              <a:buSzPct val="100000"/>
              <a:buAutoNum type="arabicPeriod"/>
            </a:pPr>
            <a:r>
              <a:rPr lang="en"/>
              <a:t>Game State Updates</a:t>
            </a:r>
            <a:endParaRPr/>
          </a:p>
          <a:p>
            <a:pPr marL="914400" lvl="1" indent="-304165" algn="l" rtl="0">
              <a:spcBef>
                <a:spcPts val="0"/>
              </a:spcBef>
              <a:spcAft>
                <a:spcPts val="0"/>
              </a:spcAft>
              <a:buSzPct val="100000"/>
              <a:buAutoNum type="alphaLcPeriod"/>
            </a:pPr>
            <a:r>
              <a:rPr lang="en"/>
              <a:t>Ball Movement: Ball position (x, y) updated based on diagonal direction movement (dx, dy)</a:t>
            </a:r>
            <a:endParaRPr/>
          </a:p>
          <a:p>
            <a:pPr marL="1371600" lvl="2" indent="-304164" algn="l" rtl="0">
              <a:spcBef>
                <a:spcPts val="0"/>
              </a:spcBef>
              <a:spcAft>
                <a:spcPts val="0"/>
              </a:spcAft>
              <a:buSzPct val="100000"/>
              <a:buAutoNum type="romanLcPeriod"/>
            </a:pPr>
            <a:r>
              <a:rPr lang="en"/>
              <a:t>Collision Detection: Bounces on boundaries and paddles.</a:t>
            </a:r>
            <a:endParaRPr/>
          </a:p>
          <a:p>
            <a:pPr marL="1371600" lvl="2" indent="-304164" algn="l" rtl="0">
              <a:spcBef>
                <a:spcPts val="0"/>
              </a:spcBef>
              <a:spcAft>
                <a:spcPts val="0"/>
              </a:spcAft>
              <a:buSzPct val="100000"/>
              <a:buAutoNum type="romanLcPeriod"/>
            </a:pPr>
            <a:r>
              <a:rPr lang="en"/>
              <a:t>Scoring: Points awarded when ball crosses left or right sides.</a:t>
            </a:r>
            <a:endParaRPr/>
          </a:p>
          <a:p>
            <a:pPr marL="457200" lvl="0" indent="-325755" algn="l" rtl="0">
              <a:spcBef>
                <a:spcPts val="0"/>
              </a:spcBef>
              <a:spcAft>
                <a:spcPts val="0"/>
              </a:spcAft>
              <a:buSzPct val="100000"/>
              <a:buAutoNum type="arabicPeriod"/>
            </a:pPr>
            <a:r>
              <a:rPr lang="en"/>
              <a:t>Paddle Controls</a:t>
            </a:r>
            <a:endParaRPr/>
          </a:p>
          <a:p>
            <a:pPr marL="914400" lvl="1" indent="-304165" algn="l" rtl="0">
              <a:spcBef>
                <a:spcPts val="0"/>
              </a:spcBef>
              <a:spcAft>
                <a:spcPts val="0"/>
              </a:spcAft>
              <a:buSzPct val="100000"/>
              <a:buAutoNum type="alphaLcPeriod"/>
            </a:pPr>
            <a:r>
              <a:rPr lang="en"/>
              <a:t>Player 1 and 2: Joystick reading determine paddle movement (y position)</a:t>
            </a:r>
            <a:endParaRPr/>
          </a:p>
          <a:p>
            <a:pPr marL="914400" lvl="1" indent="-304165" algn="l" rtl="0">
              <a:spcBef>
                <a:spcPts val="0"/>
              </a:spcBef>
              <a:spcAft>
                <a:spcPts val="0"/>
              </a:spcAft>
              <a:buSzPct val="100000"/>
              <a:buAutoNum type="alphaLcPeriod"/>
            </a:pPr>
            <a:r>
              <a:rPr lang="en"/>
              <a:t>Movement Boundaries: Paddles are constrained to the screen.</a:t>
            </a:r>
            <a:endParaRPr/>
          </a:p>
          <a:p>
            <a:pPr marL="457200" lvl="0" indent="-325755" algn="l" rtl="0">
              <a:spcBef>
                <a:spcPts val="0"/>
              </a:spcBef>
              <a:spcAft>
                <a:spcPts val="0"/>
              </a:spcAft>
              <a:buSzPct val="100000"/>
              <a:buAutoNum type="arabicPeriod"/>
            </a:pPr>
            <a:r>
              <a:rPr lang="en"/>
              <a:t>Display Handling</a:t>
            </a:r>
            <a:endParaRPr/>
          </a:p>
          <a:p>
            <a:pPr marL="914400" lvl="1" indent="-304165" algn="l" rtl="0">
              <a:spcBef>
                <a:spcPts val="0"/>
              </a:spcBef>
              <a:spcAft>
                <a:spcPts val="0"/>
              </a:spcAft>
              <a:buSzPct val="100000"/>
              <a:buAutoNum type="alphaLcPeriod"/>
            </a:pPr>
            <a:r>
              <a:rPr lang="en"/>
              <a:t>Display Buffers: There are two different display buffers that are being used to hold onto changes made to the player data and game area. This implementation created a safety net for making sure we are not overwriting data. </a:t>
            </a:r>
            <a:endParaRPr/>
          </a:p>
          <a:p>
            <a:pPr marL="457200" lvl="0" indent="-325755" algn="l" rtl="0">
              <a:spcBef>
                <a:spcPts val="0"/>
              </a:spcBef>
              <a:spcAft>
                <a:spcPts val="0"/>
              </a:spcAft>
              <a:buSzPct val="100000"/>
              <a:buAutoNum type="arabicPeriod"/>
            </a:pPr>
            <a:r>
              <a:rPr lang="en"/>
              <a:t>Score</a:t>
            </a:r>
            <a:endParaRPr/>
          </a:p>
          <a:p>
            <a:pPr marL="914400" lvl="1" indent="-304165" algn="l" rtl="0">
              <a:spcBef>
                <a:spcPts val="0"/>
              </a:spcBef>
              <a:spcAft>
                <a:spcPts val="0"/>
              </a:spcAft>
              <a:buSzPct val="100000"/>
              <a:buAutoNum type="alphaLcPeriod"/>
            </a:pPr>
            <a:r>
              <a:rPr lang="en"/>
              <a:t>Display Score: displayScore() updates the score on the display</a:t>
            </a:r>
            <a:endParaRPr/>
          </a:p>
          <a:p>
            <a:pPr marL="914400" lvl="1" indent="-304165" algn="l" rtl="0">
              <a:spcBef>
                <a:spcPts val="0"/>
              </a:spcBef>
              <a:spcAft>
                <a:spcPts val="0"/>
              </a:spcAft>
              <a:buSzPct val="100000"/>
              <a:buAutoNum type="alphaLcPeriod"/>
            </a:pPr>
            <a:r>
              <a:rPr lang="en"/>
              <a:t>Flashing Score: flashScore() creates a flashing effect when a point is scored.</a:t>
            </a:r>
            <a:endParaRPr/>
          </a:p>
          <a:p>
            <a:pPr marL="457200" lvl="0" indent="-325755" algn="l" rtl="0">
              <a:spcBef>
                <a:spcPts val="0"/>
              </a:spcBef>
              <a:spcAft>
                <a:spcPts val="0"/>
              </a:spcAft>
              <a:buSzPct val="100000"/>
              <a:buAutoNum type="arabicPeriod"/>
            </a:pPr>
            <a:r>
              <a:rPr lang="en"/>
              <a:t>Ball Reset</a:t>
            </a:r>
            <a:endParaRPr/>
          </a:p>
          <a:p>
            <a:pPr marL="914400" lvl="1" indent="-304165" algn="l" rtl="0">
              <a:spcBef>
                <a:spcPts val="0"/>
              </a:spcBef>
              <a:spcAft>
                <a:spcPts val="0"/>
              </a:spcAft>
              <a:buSzPct val="100000"/>
              <a:buAutoNum type="alphaLcPeriod"/>
            </a:pPr>
            <a:r>
              <a:rPr lang="en"/>
              <a:t>Reset Position: resetBall() resets the ball to the center after scoring.</a:t>
            </a:r>
            <a:endParaRPr/>
          </a:p>
          <a:p>
            <a:pPr marL="914400" lvl="1" indent="-304165" algn="l" rtl="0">
              <a:spcBef>
                <a:spcPts val="0"/>
              </a:spcBef>
              <a:spcAft>
                <a:spcPts val="0"/>
              </a:spcAft>
              <a:buSzPct val="100000"/>
              <a:buAutoNum type="alphaLcPeriod"/>
            </a:pPr>
            <a:r>
              <a:rPr lang="en"/>
              <a:t>Random Ball Direction: dy is randomized for unpredictability.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Challenges</a:t>
            </a:r>
            <a:endParaRPr/>
          </a:p>
        </p:txBody>
      </p:sp>
      <p:sp>
        <p:nvSpPr>
          <p:cNvPr id="97" name="Google Shape;97;p19"/>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rmAutofit fontScale="92500" lnSpcReduction="20000"/>
          </a:bodyPr>
          <a:lstStyle/>
          <a:p>
            <a:pPr marL="457200" lvl="0" indent="-334327" algn="l" rtl="0">
              <a:spcBef>
                <a:spcPts val="0"/>
              </a:spcBef>
              <a:spcAft>
                <a:spcPts val="0"/>
              </a:spcAft>
              <a:buSzPct val="100000"/>
              <a:buAutoNum type="arabicPeriod"/>
            </a:pPr>
            <a:r>
              <a:rPr lang="en"/>
              <a:t>RFID</a:t>
            </a:r>
            <a:endParaRPr/>
          </a:p>
          <a:p>
            <a:pPr marL="914400" lvl="1" indent="-310832" algn="l" rtl="0">
              <a:spcBef>
                <a:spcPts val="0"/>
              </a:spcBef>
              <a:spcAft>
                <a:spcPts val="0"/>
              </a:spcAft>
              <a:buSzPct val="100000"/>
              <a:buAutoNum type="alphaLcPeriod"/>
            </a:pPr>
            <a:r>
              <a:rPr lang="en"/>
              <a:t>References to this implementation were hard to find, if any.</a:t>
            </a:r>
            <a:endParaRPr/>
          </a:p>
          <a:p>
            <a:pPr marL="914400" lvl="1" indent="-310832" algn="l" rtl="0">
              <a:spcBef>
                <a:spcPts val="0"/>
              </a:spcBef>
              <a:spcAft>
                <a:spcPts val="0"/>
              </a:spcAft>
              <a:buSzPct val="100000"/>
              <a:buAutoNum type="alphaLcPeriod"/>
            </a:pPr>
            <a:r>
              <a:rPr lang="en"/>
              <a:t>The data sheet was extensive and hard to follow.</a:t>
            </a:r>
            <a:endParaRPr/>
          </a:p>
          <a:p>
            <a:pPr marL="914400" lvl="1" indent="-310832" algn="l" rtl="0">
              <a:spcBef>
                <a:spcPts val="0"/>
              </a:spcBef>
              <a:spcAft>
                <a:spcPts val="0"/>
              </a:spcAft>
              <a:buSzPct val="100000"/>
              <a:buAutoNum type="alphaLcPeriod"/>
            </a:pPr>
            <a:r>
              <a:rPr lang="en"/>
              <a:t>Timing issues.</a:t>
            </a:r>
            <a:endParaRPr/>
          </a:p>
          <a:p>
            <a:pPr marL="914400" lvl="1" indent="-310832" algn="l" rtl="0">
              <a:spcBef>
                <a:spcPts val="0"/>
              </a:spcBef>
              <a:spcAft>
                <a:spcPts val="0"/>
              </a:spcAft>
              <a:buSzPct val="100000"/>
              <a:buAutoNum type="alphaLcPeriod"/>
            </a:pPr>
            <a:r>
              <a:rPr lang="en"/>
              <a:t>Communication needed to be 3.3v which resulted in using a voltage divider, because our board outputs 5v.</a:t>
            </a:r>
            <a:endParaRPr/>
          </a:p>
          <a:p>
            <a:pPr marL="457200" lvl="0" indent="-334327" algn="l" rtl="0">
              <a:spcBef>
                <a:spcPts val="0"/>
              </a:spcBef>
              <a:spcAft>
                <a:spcPts val="0"/>
              </a:spcAft>
              <a:buSzPct val="100000"/>
              <a:buAutoNum type="arabicPeriod"/>
            </a:pPr>
            <a:r>
              <a:rPr lang="en"/>
              <a:t>Ball Logic</a:t>
            </a:r>
            <a:endParaRPr/>
          </a:p>
          <a:p>
            <a:pPr marL="914400" lvl="1" indent="-310832" algn="l" rtl="0">
              <a:spcBef>
                <a:spcPts val="0"/>
              </a:spcBef>
              <a:spcAft>
                <a:spcPts val="0"/>
              </a:spcAft>
              <a:buSzPct val="100000"/>
              <a:buAutoNum type="alphaLcPeriod"/>
            </a:pPr>
            <a:r>
              <a:rPr lang="en"/>
              <a:t>Issues from the displays being interconnected. The displays being connected potentially resulted in the refresh of the ball in the areas of the paddles to be too fast. Made it harder for the user to see ball.</a:t>
            </a:r>
            <a:endParaRPr/>
          </a:p>
          <a:p>
            <a:pPr marL="914400" lvl="1" indent="-310832" algn="l" rtl="0">
              <a:spcBef>
                <a:spcPts val="0"/>
              </a:spcBef>
              <a:spcAft>
                <a:spcPts val="0"/>
              </a:spcAft>
              <a:buSzPct val="100000"/>
              <a:buAutoNum type="alphaLcPeriod"/>
            </a:pPr>
            <a:r>
              <a:rPr lang="en"/>
              <a:t>We split the displays into the game area and the player information. This helped with splitting up the updates and we were no longer accidentally overwriting player data or the game area incorrectly.</a:t>
            </a:r>
            <a:endParaRPr/>
          </a:p>
          <a:p>
            <a:pPr marL="457200" lvl="0" indent="-334327" algn="l" rtl="0">
              <a:spcBef>
                <a:spcPts val="0"/>
              </a:spcBef>
              <a:spcAft>
                <a:spcPts val="0"/>
              </a:spcAft>
              <a:buSzPct val="100000"/>
              <a:buAutoNum type="arabicPeriod"/>
            </a:pPr>
            <a:r>
              <a:rPr lang="en"/>
              <a:t>Paddle Logic</a:t>
            </a:r>
            <a:endParaRPr/>
          </a:p>
          <a:p>
            <a:pPr marL="914400" lvl="1" indent="-310832" algn="l" rtl="0">
              <a:spcBef>
                <a:spcPts val="0"/>
              </a:spcBef>
              <a:spcAft>
                <a:spcPts val="0"/>
              </a:spcAft>
              <a:buSzPct val="100000"/>
              <a:buAutoNum type="alphaLcPeriod"/>
            </a:pPr>
            <a:r>
              <a:rPr lang="en"/>
              <a:t>Paddle tracking was difficult due to finding a specific point to track to make things easier to detect boundaries. Currently, the implementation is tracking the top most LED of the paddle.</a:t>
            </a:r>
            <a:endParaRPr/>
          </a:p>
          <a:p>
            <a:pPr marL="914400" lvl="1" indent="-310832" algn="l" rtl="0">
              <a:spcBef>
                <a:spcPts val="0"/>
              </a:spcBef>
              <a:spcAft>
                <a:spcPts val="0"/>
              </a:spcAft>
              <a:buSzPct val="100000"/>
              <a:buAutoNum type="alphaLcPeriod"/>
            </a:pPr>
            <a:r>
              <a:rPr lang="en"/>
              <a:t>The coordinate system was flipped, we introduced this somewhere and it was hard getting use to this change which prolonged further progress.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2" name="Google Shape;102;p20"/>
          <p:cNvSpPr txBox="1">
            <a:spLocks noGrp="1"/>
          </p:cNvSpPr>
          <p:nvPr>
            <p:ph type="title"/>
          </p:nvPr>
        </p:nvSpPr>
        <p:spPr>
          <a:xfrm>
            <a:off x="311700" y="2265150"/>
            <a:ext cx="8520600" cy="6132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en"/>
              <a:t>DEMO</a:t>
            </a:r>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605</Words>
  <Application>Microsoft Office PowerPoint</Application>
  <PresentationFormat>On-screen Show (16:9)</PresentationFormat>
  <Paragraphs>68</Paragraphs>
  <Slides>9</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Old Standard TT</vt:lpstr>
      <vt:lpstr>Arial</vt:lpstr>
      <vt:lpstr>Paperback</vt:lpstr>
      <vt:lpstr>Pong</vt:lpstr>
      <vt:lpstr>Project Overview</vt:lpstr>
      <vt:lpstr>System Design &amp; Peripherals Utilization</vt:lpstr>
      <vt:lpstr>System Flow</vt:lpstr>
      <vt:lpstr>Actuator &amp; Sensor Integration</vt:lpstr>
      <vt:lpstr>Wiring Diagram</vt:lpstr>
      <vt:lpstr>Code Implementation &amp; Software Explanation</vt:lpstr>
      <vt:lpstr>Challenges</vt:lpstr>
      <vt:lpstr>DEMO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Quigley, Wesley - SDSMT Student</cp:lastModifiedBy>
  <cp:revision>2</cp:revision>
  <dcterms:modified xsi:type="dcterms:W3CDTF">2025-05-01T14:10:07Z</dcterms:modified>
</cp:coreProperties>
</file>